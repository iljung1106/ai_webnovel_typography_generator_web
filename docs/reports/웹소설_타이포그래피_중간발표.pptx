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9202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Malgun Gothic"/>
              </a:rPr>
              <a:t>AI 웹소설 타이포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24128"/>
            <a:ext cx="61264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웹소설 제목용</a:t>
            </a:r>
            <a:br/>
            <a:r>
              <a:rPr sz="3400" b="1">
                <a:solidFill>
                  <a:srgbClr val="111827"/>
                </a:solidFill>
                <a:latin typeface="Malgun Gothic"/>
              </a:rPr>
              <a:t>AI 타이포그래피 제작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542032"/>
            <a:ext cx="53035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작품 제목과 장르를 바탕으로 한글 제목 타이포 시안을 만들고,</a:t>
            </a:r>
            <a:br/>
            <a:r>
              <a:rPr sz="1300" b="0">
                <a:solidFill>
                  <a:srgbClr val="64748B"/>
                </a:solidFill>
                <a:latin typeface="Malgun Gothic"/>
              </a:rPr>
              <a:t>표지 위에서 효과 적용과 내보내기까지 이어지는 Web/App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401568"/>
            <a:ext cx="1143000" cy="256032"/>
          </a:xfrm>
          <a:prstGeom prst="roundRect">
            <a:avLst/>
          </a:prstGeom>
          <a:solidFill>
            <a:srgbClr val="EBF1FF"/>
          </a:solidFill>
          <a:ln>
            <a:solidFill>
              <a:srgbClr val="C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Malgun Gothic"/>
              </a:rPr>
              <a:t>중간발표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777240"/>
            <a:ext cx="51663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스크린샷 2026-05-25 234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12594"/>
            <a:ext cx="5166360" cy="38440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5392" y="5138928"/>
            <a:ext cx="4937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Malgun Gothic"/>
              </a:rPr>
              <a:t>실제 구현 화면: 선택한 타이포에 효과를 입히는 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60720"/>
            <a:ext cx="11064240" cy="18288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925312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algun Gothic"/>
              </a:rPr>
              <a:t>팀명 / 팀원: 추후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925312"/>
            <a:ext cx="3108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Malgun Gothic"/>
              </a:rPr>
              <a:t>2026.05.26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01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누가, 어떤 문제를 겪고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초기 타겟은 개인 웹소설 작가와 소규모 매니지먼트입니다.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32461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개인 작가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51760"/>
            <a:ext cx="324612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Malgun Gothic"/>
              </a:rPr>
              <a:t>표지는 준비했지만</a:t>
            </a:r>
            <a:br/>
            <a:r>
              <a:rPr sz="1400" b="1">
                <a:solidFill>
                  <a:srgbClr val="111827"/>
                </a:solidFill>
                <a:latin typeface="Malgun Gothic"/>
              </a:rPr>
              <a:t>제목 타이포 외주 비용이 부담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22191"/>
            <a:ext cx="32461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저렴한 시안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4389120"/>
            <a:ext cx="2971800" cy="27432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828800"/>
            <a:ext cx="32461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소규모 CP/매니지먼트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651760"/>
            <a:ext cx="324612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Malgun Gothic"/>
              </a:rPr>
              <a:t>여러 작품의 테스트용 표지와</a:t>
            </a:r>
            <a:br/>
            <a:r>
              <a:rPr sz="1400" b="1">
                <a:solidFill>
                  <a:srgbClr val="111827"/>
                </a:solidFill>
                <a:latin typeface="Malgun Gothic"/>
              </a:rPr>
              <a:t>타이포 초안이 반복적으로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822191"/>
            <a:ext cx="32461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제작 공정 단축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4389120"/>
            <a:ext cx="2971800" cy="27432"/>
          </a:xfrm>
          <a:prstGeom prst="rect">
            <a:avLst/>
          </a:prstGeom>
          <a:solidFill>
            <a:srgbClr val="B4BECD"/>
          </a:solidFill>
          <a:ln w="9525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461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디자이너/일러스트레이터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651760"/>
            <a:ext cx="3246120" cy="7498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Malgun Gothic"/>
              </a:rPr>
              <a:t>타이포 방향과 효과 레퍼런스를</a:t>
            </a:r>
            <a:br/>
            <a:r>
              <a:rPr sz="1400" b="1">
                <a:solidFill>
                  <a:srgbClr val="111827"/>
                </a:solidFill>
                <a:latin typeface="Malgun Gothic"/>
              </a:rPr>
              <a:t>빠르게 잡아야 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3822191"/>
            <a:ext cx="32461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초안·레퍼런스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4389120"/>
            <a:ext cx="2971800" cy="27432"/>
          </a:xfrm>
          <a:prstGeom prst="rect">
            <a:avLst/>
          </a:prstGeom>
          <a:solidFill>
            <a:srgbClr val="B4BECD"/>
          </a:solidFill>
          <a:ln w="9525">
            <a:solidFill>
              <a:srgbClr val="B4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3327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Malgun Gothic"/>
              </a:rPr>
              <a:t>핵심은 표지 전체가 아니라, 표지의 인상을 결정하는 ‘제목 타이포그래피’를 빠르게 만드는 것입니다.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02 제품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Product Goal은 ‘AI 사용’이 아니라 결과물 획득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사용자가 바로 쓸 수 있는 제목 타이포 시안을 얻는 것이 목표입니다.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1069848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Malgun Gothic"/>
              </a:rPr>
              <a:t>웹소설 작가와 소규모 제작자가 전문 타이포그래피 외주 전 단계에서,</a:t>
            </a:r>
            <a:br/>
            <a:r>
              <a:rPr sz="2000" b="1">
                <a:solidFill>
                  <a:srgbClr val="111827"/>
                </a:solidFill>
                <a:latin typeface="Malgun Gothic"/>
              </a:rPr>
              <a:t>작품 제목과 장르를 바탕으로 사용 가능한 한글 제목 타이포 시안을 빠르게 생성·수정·내보낼 수 있도록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46120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149678"/>
                </a:solidFill>
                <a:latin typeface="Malgun Gothic"/>
              </a:rPr>
              <a:t>MVP 범위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3721608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1" y="3639312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한글 제목 타이포그래피 생성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4114800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1" y="4032504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사용자 조정 가능한 배치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4507992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1" y="4425696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효과 프리셋과 세부 설정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901183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1" y="4818888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기본 PNG / 레이어 ZIP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2286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D44A4A"/>
                </a:solidFill>
                <a:latin typeface="Malgun Gothic"/>
              </a:rPr>
              <a:t>제외 범위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721608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639312"/>
            <a:ext cx="4297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표지 일러스트 생성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4114800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4297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범용 디자인 툴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507992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425696"/>
            <a:ext cx="4297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장기 보관형 라이브러리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901183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818888"/>
            <a:ext cx="4297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팀 협업·인간 리터칭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03 AI/ML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Product Goal을 AI/ML 문제로 바꾸면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각 AI 기능의 역할을 분리해서 실패 지점을 관리합니다.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91056"/>
            <a:ext cx="10789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Malgun Gothic"/>
              </a:rPr>
              <a:t>f(장르, 제목, 스타일 단어, 선택적 표지 이미지) → 타이포 후보 3개 + 편집 가능한 합성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88920"/>
            <a:ext cx="15087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Input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장르·제목
스타일 단어
표지 이미지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39112" y="3163824"/>
            <a:ext cx="31089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2788920"/>
            <a:ext cx="15087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Layout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초기 제목 배치
LayoutModule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59352" y="3163824"/>
            <a:ext cx="31089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2788920"/>
            <a:ext cx="15087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Prompt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요소/스타일 토큰
OpenRouter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9592" y="3163824"/>
            <a:ext cx="31089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2788920"/>
            <a:ext cx="15087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Generate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흑백 후보 3개
Comfy Cloud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99832" y="3163824"/>
            <a:ext cx="31089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80" y="2788920"/>
            <a:ext cx="15087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Post-process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투명화
mask 변환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20072" y="3163824"/>
            <a:ext cx="31089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20" y="2788920"/>
            <a:ext cx="15087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Effect / Export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TypoEffector
PNG·ZIP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9472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Malgun Gothic"/>
              </a:rPr>
              <a:t>표지 이미지는 생성 모델 입력이 아니라 미리보기, 색·빛·배치 분석 참고에만 사용합니다.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04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사용자 흐름은 선형으로 단순하게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자동 추천을 먼저 보여주고, 사용자는 필요한 부분만 직접 조정합니다.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11827"/>
                </a:solidFill>
                <a:latin typeface="Malgun Gothic"/>
              </a:rPr>
              <a:t>1. 장르 선택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249424"/>
            <a:ext cx="384048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01568" y="187451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11827"/>
                </a:solidFill>
                <a:latin typeface="Malgun Gothic"/>
              </a:rPr>
              <a:t>2. 표지 업로드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0" y="2249424"/>
            <a:ext cx="384048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36208" y="187451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11827"/>
                </a:solidFill>
                <a:latin typeface="Malgun Gothic"/>
              </a:rPr>
              <a:t>3. 제목 입력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0" y="2249424"/>
            <a:ext cx="384048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70848" y="187451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4. AI 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7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11827"/>
                </a:solidFill>
                <a:latin typeface="Malgun Gothic"/>
              </a:rPr>
              <a:t>5. 스타일 정리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3758183"/>
            <a:ext cx="384048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01568" y="338327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6. 3개 시안 생성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3758183"/>
            <a:ext cx="384048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8" y="338327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7. 효과 편집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3758183"/>
            <a:ext cx="384048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70848" y="3383279"/>
            <a:ext cx="214884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11827"/>
                </a:solidFill>
                <a:latin typeface="Malgun Gothic"/>
              </a:rPr>
              <a:t>8. 내보내기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85232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Malgun Gothic"/>
              </a:rPr>
              <a:t>보고서와 발표에서는 이 흐름을 기준으로 실제 구현 화면과 구현 상태를 구분합니다.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05 Web/App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현재 구현 화면 1: 입력과 배치까지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장르 선택, 표지 업로드, 제목 입력, AI 배치가 하나의 제작 흐름으로 연결되어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2743200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스크린샷 2026-05-25 232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94581"/>
            <a:ext cx="2743200" cy="20034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557016"/>
            <a:ext cx="2743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장르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81328"/>
            <a:ext cx="2743200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스크린샷 2026-05-25 2324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493334"/>
            <a:ext cx="2743200" cy="20059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20440" y="3557016"/>
            <a:ext cx="2743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표지 업로드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1481328"/>
            <a:ext cx="2377440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스크린샷 2026-05-25 2324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627767"/>
            <a:ext cx="2377440" cy="17370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3952" y="3557016"/>
            <a:ext cx="23774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제목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481328"/>
            <a:ext cx="2560320" cy="20299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스크린샷 2026-05-25 2324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554463"/>
            <a:ext cx="2560320" cy="18836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52560" y="3557016"/>
            <a:ext cx="25603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AI 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1069848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Malgun Gothic"/>
              </a:rPr>
              <a:t>현재 단계에서 중요한 구현 증거는 ‘화면만 있음’이 아니라, 사용자가 다음 단계로 이동하며 제작 상태를 이어갈 수 있다는 점입니다.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06 Web/App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현재 구현 화면 2: 생성·효과·내보내기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AI가 만든 값을 사용자가 선택하고, 효과와 export로 이어지는 후반부 흐름입니다.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17320"/>
            <a:ext cx="278892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스크린샷 2026-05-25 2324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5113"/>
            <a:ext cx="2788920" cy="20532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611880"/>
            <a:ext cx="2788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스타일 정리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1417320"/>
            <a:ext cx="278892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스크린샷 2026-05-25 2329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463107"/>
            <a:ext cx="2788920" cy="2057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29584" y="3611880"/>
            <a:ext cx="2788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시안 생성/선택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417320"/>
            <a:ext cx="278892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스크린샷 2026-05-25 234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454175"/>
            <a:ext cx="2788920" cy="2075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0" y="3611880"/>
            <a:ext cx="278892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효과 편집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54896" y="1417320"/>
            <a:ext cx="22402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스크린샷 2026-05-25 2340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896" y="1663781"/>
            <a:ext cx="2240280" cy="16559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54896" y="3611880"/>
            <a:ext cx="22402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Malgun Gothic"/>
              </a:rPr>
              <a:t>내보내기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837176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754880"/>
            <a:ext cx="9784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algun Gothic"/>
              </a:rPr>
              <a:t>생성 단계는 3개 후보 슬롯과 실패 상태를 보여주는 구조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5230368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5148072"/>
            <a:ext cx="9784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algun Gothic"/>
              </a:rPr>
              <a:t>효과 단계는 TypoEffector 기반 프리셋·세부 설정을 UI로 노출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5623560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5541264"/>
            <a:ext cx="9784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algun Gothic"/>
              </a:rPr>
              <a:t>내보내기 단계는 기본 PNG와 레이어 ZIP 흐름을 목표로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07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서비스 구조는 프론트와 AI 작업을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낮은 고정비로 시작하되, API와 Worker는 분리 가능한 구조로 둡니다.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1945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Vercel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Next.js
사용자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21945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Render API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FastAPI
인증·프로젝트·작업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21945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6D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2563EB"/>
                </a:solidFill>
                <a:latin typeface="Malgun Gothic"/>
              </a:rPr>
              <a:t>Render Worker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Python
AI job 처리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143000"/>
            <a:ext cx="2240280" cy="694944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Supabase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Auth / DB /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121408"/>
            <a:ext cx="2240280" cy="694944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OpenRouter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Layout / Style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099816"/>
            <a:ext cx="2240280" cy="694944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Comfy Cloud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타이포 후보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078224"/>
            <a:ext cx="2240280" cy="694944"/>
          </a:xfrm>
          <a:prstGeom prst="roundRect">
            <a:avLst/>
          </a:prstGeom>
          <a:solidFill>
            <a:srgbClr val="F3F7FC"/>
          </a:solidFill>
          <a:ln w="9525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8274A"/>
                </a:solidFill>
                <a:latin typeface="Malgun Gothic"/>
              </a:rPr>
              <a:t>Browser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효과 렌더링 /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359152"/>
            <a:ext cx="2560320" cy="1024128"/>
          </a:xfrm>
          <a:prstGeom prst="roundRect">
            <a:avLst/>
          </a:prstGeom>
          <a:solidFill>
            <a:srgbClr val="EBF9F6"/>
          </a:solidFill>
          <a:ln w="9525">
            <a:solidFill>
              <a:srgbClr val="ABD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149678"/>
                </a:solidFill>
                <a:latin typeface="Malgun Gothic"/>
              </a:rPr>
              <a:t>Job Queue</a:t>
            </a:r>
          </a:p>
          <a:p>
            <a:pPr algn="ctr"/>
            <a:r>
              <a:rPr sz="760" b="0">
                <a:solidFill>
                  <a:srgbClr val="64748B"/>
                </a:solidFill>
                <a:latin typeface="Malgun Gothic"/>
              </a:rPr>
              <a:t>projects · versions · batches · slots · assets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011680"/>
            <a:ext cx="1554480" cy="7315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063240" y="2880360"/>
            <a:ext cx="1554480" cy="2743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69480" y="1508760"/>
            <a:ext cx="1508760" cy="123444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269480" y="2487168"/>
            <a:ext cx="1508760" cy="39319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69480" y="3017520"/>
            <a:ext cx="1508760" cy="43891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69480" y="3154680"/>
            <a:ext cx="1508760" cy="128016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166360"/>
            <a:ext cx="104241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Malgun Gothic"/>
              </a:rPr>
              <a:t>Provider API key와 Supabase service role key는 프론트가 아니라 API/Worker 환경변수에만 둡니다.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08 Metrics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평가는 ‘예쁜가’보다 사용자가 끝까지 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모델 품질 지표와 서비스 지표를 export 전환율로 연결합니다.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algun Gothic"/>
              </a:rPr>
              <a:t>Business Metric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93976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11680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생성 시작률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87168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04872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시안 선택률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880360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798064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Export 전환율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273552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191256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재방문/재작업률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600200"/>
            <a:ext cx="3474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6F5BE8"/>
                </a:solidFill>
                <a:latin typeface="Malgun Gothic"/>
              </a:rPr>
              <a:t>AI Quality Metric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093976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1" y="2011680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한글 제목 가독성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487168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1" y="2404872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장르 적합성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2880360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1" y="2798064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생성 실패율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273552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3191256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latency / 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600200"/>
            <a:ext cx="3200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44A4A"/>
                </a:solidFill>
                <a:latin typeface="Malgun Gothic"/>
              </a:rPr>
              <a:t>Trouble Shooting</a:t>
            </a:r>
          </a:p>
        </p:txBody>
      </p:sp>
      <p:sp>
        <p:nvSpPr>
          <p:cNvPr id="24" name="Oval 23"/>
          <p:cNvSpPr/>
          <p:nvPr/>
        </p:nvSpPr>
        <p:spPr>
          <a:xfrm>
            <a:off x="8366760" y="2093976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011680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흑백 실루엣 유지</a:t>
            </a:r>
          </a:p>
        </p:txBody>
      </p:sp>
      <p:sp>
        <p:nvSpPr>
          <p:cNvPr id="26" name="Oval 25"/>
          <p:cNvSpPr/>
          <p:nvPr/>
        </p:nvSpPr>
        <p:spPr>
          <a:xfrm>
            <a:off x="8366760" y="2487168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2404872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투명화 경계 품질</a:t>
            </a:r>
          </a:p>
        </p:txBody>
      </p:sp>
      <p:sp>
        <p:nvSpPr>
          <p:cNvPr id="28" name="Oval 27"/>
          <p:cNvSpPr/>
          <p:nvPr/>
        </p:nvSpPr>
        <p:spPr>
          <a:xfrm>
            <a:off x="8366760" y="2880360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2798064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브라우저 렌더 성능</a:t>
            </a:r>
          </a:p>
        </p:txBody>
      </p:sp>
      <p:sp>
        <p:nvSpPr>
          <p:cNvPr id="30" name="Oval 29"/>
          <p:cNvSpPr/>
          <p:nvPr/>
        </p:nvSpPr>
        <p:spPr>
          <a:xfrm>
            <a:off x="8366760" y="3273552"/>
            <a:ext cx="64008" cy="640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3191256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OAuth/배포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029200"/>
            <a:ext cx="100584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Malgun Gothic"/>
              </a:rPr>
              <a:t>품질이 좋아지면 후보 선택률이 올라가고, 수정량은 줄며, 최종 PNG/ZIP 내보내기까지 이어질 가능성이 높아집니다.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algun Gothic"/>
              </a:rPr>
              <a:t>09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최종 발표까지는 ‘실제 흐름 완성’이 우선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8778240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기능을 넓히기보다 생성부터 export까지 끊기지 않는 데모를 완성합니다.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20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08760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Malgun Gothic"/>
              </a:rPr>
              <a:t>사용자 흐름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508760"/>
            <a:ext cx="6217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Malgun Gothic"/>
              </a:rPr>
              <a:t>랜딩 → 제작 → 생성 → 효과 → export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947672"/>
            <a:ext cx="9966960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320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58568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Malgun Gothic"/>
              </a:rPr>
              <a:t>로그인/작업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58568"/>
            <a:ext cx="6217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Malgun Gothic"/>
              </a:rPr>
              <a:t>계정별 최근 작업과 저장 상태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697479"/>
            <a:ext cx="9966960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08376"/>
            <a:ext cx="320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08376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Malgun Gothic"/>
              </a:rPr>
              <a:t>생성 batch 안정화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08376"/>
            <a:ext cx="6217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Malgun Gothic"/>
              </a:rPr>
              <a:t>3개 슬롯, 실패/timeout, 투명화 저장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447288"/>
            <a:ext cx="9966960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58183"/>
            <a:ext cx="320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58183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Malgun Gothic"/>
              </a:rPr>
              <a:t>효과·내보내기 보완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758183"/>
            <a:ext cx="6217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Malgun Gothic"/>
              </a:rPr>
              <a:t>프리셋, 세부 설정, PNG/ZIP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197096"/>
            <a:ext cx="9966960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07992"/>
            <a:ext cx="320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algun Gothi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507992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1">
                <a:solidFill>
                  <a:srgbClr val="111827"/>
                </a:solidFill>
                <a:latin typeface="Malgun Gothic"/>
              </a:rPr>
              <a:t>배포와 발표자료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507992"/>
            <a:ext cx="6217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Malgun Gothic"/>
              </a:rPr>
              <a:t>Vercel/Render/Supabase URL과 데모 시나리오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946904"/>
            <a:ext cx="9966960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623560"/>
            <a:ext cx="10058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8274A"/>
                </a:solidFill>
                <a:latin typeface="Malgun Gothic"/>
              </a:rPr>
              <a:t>발표의 핵심 메시지: 아이디어가 아니라, 수업에서 배운 ML product framing이 실제 Web/App 흐름으로 연결되었다.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Malgun Gothic"/>
              </a:rPr>
              <a:t>서비스데이터사이언스 중간발표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1">
                <a:solidFill>
                  <a:srgbClr val="2563EB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